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71" r:id="rId8"/>
    <p:sldId id="272" r:id="rId9"/>
    <p:sldId id="259" r:id="rId10"/>
    <p:sldId id="261" r:id="rId11"/>
    <p:sldId id="262" r:id="rId12"/>
    <p:sldId id="263" r:id="rId13"/>
    <p:sldId id="264" r:id="rId14"/>
    <p:sldId id="265" r:id="rId15"/>
    <p:sldId id="266" r:id="rId16"/>
    <p:sldId id="270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4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D4AC03-DF8B-4584-8678-72B80420E58B}" v="71" dt="2026-04-07T10:33:35.2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65" d="100"/>
          <a:sy n="65" d="100"/>
        </p:scale>
        <p:origin x="6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EFEAC-C5D6-8F7C-1CA7-4BA56A655C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FDE03F-AA6E-3602-DADB-66DC543A5C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79DEF-F5A6-8AEC-B3DA-9D66DDF05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E39D4-F98B-B19D-6644-460FD0B39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5F34-6859-4530-976C-391E493403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Прямая соединительная линия 13">
            <a:extLst>
              <a:ext uri="{FF2B5EF4-FFF2-40B4-BE49-F238E27FC236}">
                <a16:creationId xmlns:a16="http://schemas.microsoft.com/office/drawing/2014/main" id="{34F9F881-47DD-C9F1-958F-D67228A0E22D}"/>
              </a:ext>
            </a:extLst>
          </p:cNvPr>
          <p:cNvCxnSpPr>
            <a:cxnSpLocks/>
          </p:cNvCxnSpPr>
          <p:nvPr userDrawn="1"/>
        </p:nvCxnSpPr>
        <p:spPr>
          <a:xfrm>
            <a:off x="3938769" y="1"/>
            <a:ext cx="0" cy="20860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14">
            <a:extLst>
              <a:ext uri="{FF2B5EF4-FFF2-40B4-BE49-F238E27FC236}">
                <a16:creationId xmlns:a16="http://schemas.microsoft.com/office/drawing/2014/main" id="{74421E6D-D29B-52ED-7DCA-9F22E3FE7F8F}"/>
              </a:ext>
            </a:extLst>
          </p:cNvPr>
          <p:cNvCxnSpPr>
            <a:cxnSpLocks/>
          </p:cNvCxnSpPr>
          <p:nvPr userDrawn="1"/>
        </p:nvCxnSpPr>
        <p:spPr>
          <a:xfrm flipH="1">
            <a:off x="5736873" y="5594956"/>
            <a:ext cx="84" cy="10733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5">
            <a:extLst>
              <a:ext uri="{FF2B5EF4-FFF2-40B4-BE49-F238E27FC236}">
                <a16:creationId xmlns:a16="http://schemas.microsoft.com/office/drawing/2014/main" id="{F12AF2A0-F907-A417-AE6D-3430A8E744ED}"/>
              </a:ext>
            </a:extLst>
          </p:cNvPr>
          <p:cNvCxnSpPr>
            <a:cxnSpLocks/>
          </p:cNvCxnSpPr>
          <p:nvPr userDrawn="1"/>
        </p:nvCxnSpPr>
        <p:spPr>
          <a:xfrm flipH="1">
            <a:off x="8976692" y="1"/>
            <a:ext cx="84" cy="45989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6">
            <a:extLst>
              <a:ext uri="{FF2B5EF4-FFF2-40B4-BE49-F238E27FC236}">
                <a16:creationId xmlns:a16="http://schemas.microsoft.com/office/drawing/2014/main" id="{3E0F1F38-A23E-D2C1-553E-82155EFFCCB8}"/>
              </a:ext>
            </a:extLst>
          </p:cNvPr>
          <p:cNvCxnSpPr>
            <a:cxnSpLocks/>
          </p:cNvCxnSpPr>
          <p:nvPr userDrawn="1"/>
        </p:nvCxnSpPr>
        <p:spPr>
          <a:xfrm>
            <a:off x="334610" y="1263840"/>
            <a:ext cx="0" cy="91978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7">
            <a:extLst>
              <a:ext uri="{FF2B5EF4-FFF2-40B4-BE49-F238E27FC236}">
                <a16:creationId xmlns:a16="http://schemas.microsoft.com/office/drawing/2014/main" id="{E05D70BC-57B1-8671-A175-8C427B0C45A1}"/>
              </a:ext>
            </a:extLst>
          </p:cNvPr>
          <p:cNvCxnSpPr>
            <a:cxnSpLocks/>
          </p:cNvCxnSpPr>
          <p:nvPr userDrawn="1"/>
        </p:nvCxnSpPr>
        <p:spPr>
          <a:xfrm>
            <a:off x="11139222" y="2200419"/>
            <a:ext cx="0" cy="288460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9">
            <a:extLst>
              <a:ext uri="{FF2B5EF4-FFF2-40B4-BE49-F238E27FC236}">
                <a16:creationId xmlns:a16="http://schemas.microsoft.com/office/drawing/2014/main" id="{E87B4F70-6206-099F-D868-9FFF6A5965A0}"/>
              </a:ext>
            </a:extLst>
          </p:cNvPr>
          <p:cNvCxnSpPr>
            <a:cxnSpLocks/>
          </p:cNvCxnSpPr>
          <p:nvPr userDrawn="1"/>
        </p:nvCxnSpPr>
        <p:spPr>
          <a:xfrm>
            <a:off x="6816575" y="1804235"/>
            <a:ext cx="0" cy="32205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Текст 16">
            <a:extLst>
              <a:ext uri="{FF2B5EF4-FFF2-40B4-BE49-F238E27FC236}">
                <a16:creationId xmlns:a16="http://schemas.microsoft.com/office/drawing/2014/main" id="{3FBF0929-DCA6-E65A-1B64-4D9488236D75}"/>
              </a:ext>
            </a:extLst>
          </p:cNvPr>
          <p:cNvSpPr txBox="1">
            <a:spLocks/>
          </p:cNvSpPr>
          <p:nvPr userDrawn="1"/>
        </p:nvSpPr>
        <p:spPr>
          <a:xfrm>
            <a:off x="8975726" y="179868"/>
            <a:ext cx="1953546" cy="30717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marL="0" indent="0" algn="l" defTabSz="892175" rtl="0" eaLnBrk="1" latinLnBrk="0" hangingPunct="1">
              <a:lnSpc>
                <a:spcPct val="150000"/>
              </a:lnSpc>
              <a:spcBef>
                <a:spcPts val="1978"/>
              </a:spcBef>
              <a:buSzPct val="100000"/>
              <a:buFontTx/>
              <a:buNone/>
              <a:defRPr sz="20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892175" rtl="0" eaLnBrk="1" latinLnBrk="0" hangingPunct="1">
              <a:lnSpc>
                <a:spcPct val="90000"/>
              </a:lnSpc>
              <a:spcBef>
                <a:spcPts val="989"/>
              </a:spcBef>
              <a:buSzPct val="100000"/>
              <a:buFontTx/>
              <a:buNone/>
              <a:defRPr sz="240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892175" rtl="0" eaLnBrk="1" latinLnBrk="0" hangingPunct="1">
              <a:lnSpc>
                <a:spcPct val="150000"/>
              </a:lnSpc>
              <a:spcBef>
                <a:spcPts val="989"/>
              </a:spcBef>
              <a:buSzPct val="100000"/>
              <a:buFontTx/>
              <a:buNone/>
              <a:defRPr sz="2000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809049" rtl="0" eaLnBrk="1" latinLnBrk="0" hangingPunct="1">
              <a:lnSpc>
                <a:spcPct val="150000"/>
              </a:lnSpc>
              <a:spcBef>
                <a:spcPts val="989"/>
              </a:spcBef>
              <a:buSzPct val="100000"/>
              <a:buFontTx/>
              <a:buNone/>
              <a:defRPr sz="3200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809049" rtl="0" eaLnBrk="1" latinLnBrk="0" hangingPunct="1">
              <a:lnSpc>
                <a:spcPct val="150000"/>
              </a:lnSpc>
              <a:spcBef>
                <a:spcPts val="989"/>
              </a:spcBef>
              <a:buSzPct val="100000"/>
              <a:buFontTx/>
              <a:buNone/>
              <a:defRPr sz="2400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809049" rtl="0" eaLnBrk="1" latinLnBrk="0" hangingPunct="1">
              <a:lnSpc>
                <a:spcPct val="90000"/>
              </a:lnSpc>
              <a:spcBef>
                <a:spcPts val="989"/>
              </a:spcBef>
              <a:buFontTx/>
              <a:buNone/>
              <a:defRPr sz="16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809049" rtl="0" eaLnBrk="1" latinLnBrk="0" hangingPunct="1">
              <a:lnSpc>
                <a:spcPct val="90000"/>
              </a:lnSpc>
              <a:spcBef>
                <a:spcPts val="989"/>
              </a:spcBef>
              <a:buFontTx/>
              <a:buNone/>
              <a:defRPr sz="1600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809049" rtl="0" eaLnBrk="1" fontAlgn="auto" latinLnBrk="0" hangingPunct="1">
              <a:lnSpc>
                <a:spcPct val="90000"/>
              </a:lnSpc>
              <a:spcBef>
                <a:spcPts val="989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57188" indent="0" algn="l" defTabSz="1809049" rtl="0" eaLnBrk="1" latinLnBrk="0" hangingPunct="1">
              <a:lnSpc>
                <a:spcPct val="90000"/>
              </a:lnSpc>
              <a:spcBef>
                <a:spcPts val="989"/>
              </a:spcBef>
              <a:buFont typeface="Arial" panose="020B0604020202020204" pitchFamily="34" charset="0"/>
              <a:buNone/>
              <a:defRPr sz="35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6" algn="r"/>
            <a:r>
              <a:rPr lang="en-US" sz="802" dirty="0">
                <a:solidFill>
                  <a:schemeClr val="bg1">
                    <a:alpha val="50000"/>
                  </a:schemeClr>
                </a:solidFill>
              </a:rPr>
              <a:t>www.systechusa.com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0CB567-AEE7-EF74-AB2B-B612F0A3F425}"/>
              </a:ext>
            </a:extLst>
          </p:cNvPr>
          <p:cNvSpPr/>
          <p:nvPr userDrawn="1"/>
        </p:nvSpPr>
        <p:spPr>
          <a:xfrm>
            <a:off x="0" y="303833"/>
            <a:ext cx="11033760" cy="5827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F22D555-FB28-A6D4-9ABD-3E2E7CFEB8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9827" y="-457200"/>
            <a:ext cx="3710254" cy="3741087"/>
          </a:xfrm>
          <a:prstGeom prst="rect">
            <a:avLst/>
          </a:prstGeom>
        </p:spPr>
      </p:pic>
      <p:sp>
        <p:nvSpPr>
          <p:cNvPr id="20" name="Title 3">
            <a:extLst>
              <a:ext uri="{FF2B5EF4-FFF2-40B4-BE49-F238E27FC236}">
                <a16:creationId xmlns:a16="http://schemas.microsoft.com/office/drawing/2014/main" id="{852C7016-A5DB-332D-4038-C866C3E0B679}"/>
              </a:ext>
            </a:extLst>
          </p:cNvPr>
          <p:cNvSpPr txBox="1">
            <a:spLocks/>
          </p:cNvSpPr>
          <p:nvPr userDrawn="1"/>
        </p:nvSpPr>
        <p:spPr>
          <a:xfrm>
            <a:off x="334611" y="1531779"/>
            <a:ext cx="2885630" cy="4630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Lato" charset="0"/>
                <a:ea typeface="Lato" charset="0"/>
                <a:cs typeface="Lato" charset="0"/>
              </a:defRPr>
            </a:lvl1pPr>
          </a:lstStyle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A1463D-EE4E-D370-1388-4025A0B2E5A8}"/>
              </a:ext>
            </a:extLst>
          </p:cNvPr>
          <p:cNvSpPr txBox="1"/>
          <p:nvPr userDrawn="1"/>
        </p:nvSpPr>
        <p:spPr>
          <a:xfrm>
            <a:off x="417370" y="6047602"/>
            <a:ext cx="29030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7D0"/>
                </a:solidFill>
                <a:latin typeface="Avenir Next Demi Bold" charset="0"/>
                <a:cs typeface="Arial" charset="0"/>
              </a:rPr>
              <a:t>Making Insights Matter.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4B66DF8-1C24-39A7-72B0-FA2DAE4D50D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0156" y="-477479"/>
            <a:ext cx="7507018" cy="7198954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2612D99-618A-978B-F17D-577610063F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354022" y="179868"/>
            <a:ext cx="1517449" cy="75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00572F2-2E32-7B0A-0761-08891B52BF9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174" y="5629322"/>
            <a:ext cx="1163598" cy="100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31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4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4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4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decel="4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decel="4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07426-9D69-D5ED-95F3-2A794CC7D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495A2-383B-7DB9-2BFF-FBD3E24B9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A2266-1D6E-C7BE-B556-262B2464C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66A2-6EE0-487C-9376-4B3F2C72F03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C1D3C-3DF4-3B65-4574-79413FA42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17BC0-0168-74BF-D886-998BBAE03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5F34-6859-4530-976C-391E49340334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6E324A-2781-3385-2609-5EC626F469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174" y="5699630"/>
            <a:ext cx="1163598" cy="100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27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073EF-C8B2-C791-E116-32D292B85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339AB-8D7A-782B-A1AF-5C4D4BD4F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CC6F6-CB9E-5926-3085-3DC30D64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66A2-6EE0-487C-9376-4B3F2C72F03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0AEA5-2B3A-61AA-2BC7-3AFA4A1E6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091CF-E48E-1EDB-706D-50D198E38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5F34-6859-4530-976C-391E493403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E7BF5E-31C4-2417-56B8-296C60D7D9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174" y="5699630"/>
            <a:ext cx="1163598" cy="100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22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3EA17-7432-FEAF-B1C3-3B73702A7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49669-9DA2-A77F-CC8B-2175E9F205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6D159-8A3E-DD5D-EBB5-575E2EA5D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00BE3-1835-1E48-C3BF-901AF6B32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66A2-6EE0-487C-9376-4B3F2C72F03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9E045-4A5E-6263-31C3-4D16A5B85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D31750-1AFF-0DE4-0FC2-386A72108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5F34-6859-4530-976C-391E493403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370CEA-25D7-29F2-7DC8-8F02F6217B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174" y="5699630"/>
            <a:ext cx="1163598" cy="100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681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685C4-5469-0D5A-45F3-6AB4DF0DF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79CE9-F6F4-80F7-19AC-7219338AB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6A141-6D96-A01A-8E11-3AE0BBAFB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AB59F2-ACB8-2C52-DDAA-D299B0EFBA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5AE1C-448D-AA18-09D9-C5DA8B5FA1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D1BB03-3D04-4DB5-E5F9-9F0E709F1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66A2-6EE0-487C-9376-4B3F2C72F03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4AF314-27B3-DF92-240A-ADCAE7A01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71ACC9-EEFD-D167-5181-7CF71F6DF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5F34-6859-4530-976C-391E4934033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BBB7D1-24CD-1194-93A5-1AAE8A3632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174" y="5699630"/>
            <a:ext cx="1163598" cy="100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917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D67E4-62A3-DBDC-E312-3A7BF1673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EF0A15-CA4D-7E60-FF37-78F534024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66A2-6EE0-487C-9376-4B3F2C72F03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A5D199-39A6-90F3-E9AE-F2B6241DD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E82ED-FDBC-7279-9AB5-7B493281D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5F34-6859-4530-976C-391E49340334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C31D36-D13A-28FE-285C-7238C2DAB8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174" y="5699630"/>
            <a:ext cx="1163598" cy="100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80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2928C7-2D02-183A-60E5-C422D3DFD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66A2-6EE0-487C-9376-4B3F2C72F03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31984E-204B-4594-841D-188504D8F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D1275-796C-AE57-B491-2E08487D8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5F34-6859-4530-976C-391E49340334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4FA0AD-25E8-56DB-DE29-67D56FAD3C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174" y="5699630"/>
            <a:ext cx="1163598" cy="100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311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A00D8-E66E-7F81-F7E6-571A31A14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827EC-B319-80C6-B1CB-DE271EE78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35A6F1-B2C1-4298-4A6C-D8B360CE3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3F067-46FB-B8CA-DCDF-813317616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66A2-6EE0-487C-9376-4B3F2C72F03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CA4CF-0BE4-AB51-5B6A-760B8333B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AB202-EE56-E74B-F5F1-27C8568B7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5F34-6859-4530-976C-391E493403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7078C0-C6B6-F8E3-9FB9-431865E421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174" y="5699630"/>
            <a:ext cx="1163598" cy="100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281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71575-BAC4-3C1A-6094-7E92FA87A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B6F51F-0C44-C86E-FED3-696661D531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FBD10-CD86-BC8F-D8DA-843D2C05D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25BEF-B95A-A66D-B615-452F10A85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66A2-6EE0-487C-9376-4B3F2C72F03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98EEF-8327-CBB9-F730-C500EFF55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E57DC-B4A1-548D-CA66-1A11C0845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5F34-6859-4530-976C-391E493403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BEAAA6-BCD6-6E38-038F-28566B7E27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174" y="5699630"/>
            <a:ext cx="1163598" cy="100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520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262C-8F46-F383-B5EB-2EE704835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E0AE63-4A91-901C-A48B-D84A70B85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CA277-DC5C-65EF-6E0C-D7AEB9BF6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66A2-6EE0-487C-9376-4B3F2C72F03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DAD2D-6714-F630-1559-6D16DD014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42602-D1F8-70C8-AA46-9FA1CCDF7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5F34-6859-4530-976C-391E493403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01F2BD-0FB9-9025-ECB6-86372C406B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174" y="5699630"/>
            <a:ext cx="1163598" cy="100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870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AABF25-4AD2-BE37-360A-C23D6AE4D8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5F377-B426-9B5E-118A-4438419CE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443B8-6CFB-30A4-9FA3-457296720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66A2-6EE0-487C-9376-4B3F2C72F03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8D8D6-2C9F-10E9-2B81-715B0CB92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68E92-EFD9-1D74-9FF7-CE9AF6338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5F34-6859-4530-976C-391E493403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47E4F7-EBCF-338A-FF70-6745B0082F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534339"/>
            <a:ext cx="1163598" cy="100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309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7B906D-57BF-69F6-7BD5-5BF691863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F1615-D676-815E-9740-C591CA79F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F07E3-F75C-2718-F76D-91EB1F0C46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F166A2-6EE0-487C-9376-4B3F2C72F03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974A9-697A-F421-963D-D1E4C0C62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83F5D-A0A5-E3FF-CC4D-07F111D52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905F34-6859-4530-976C-391E49340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0C3145-6F93-9BBF-D396-BDAFDA6FBCA4}"/>
              </a:ext>
            </a:extLst>
          </p:cNvPr>
          <p:cNvSpPr txBox="1"/>
          <p:nvPr/>
        </p:nvSpPr>
        <p:spPr>
          <a:xfrm>
            <a:off x="121977" y="877248"/>
            <a:ext cx="3111749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DBT Development</a:t>
            </a:r>
          </a:p>
          <a:p>
            <a:r>
              <a:rPr lang="en-US" sz="25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using </a:t>
            </a:r>
          </a:p>
          <a:p>
            <a:r>
              <a:rPr lang="en-US" sz="25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Cortex Code</a:t>
            </a:r>
          </a:p>
        </p:txBody>
      </p:sp>
    </p:spTree>
    <p:extLst>
      <p:ext uri="{BB962C8B-B14F-4D97-AF65-F5344CB8AC3E}">
        <p14:creationId xmlns:p14="http://schemas.microsoft.com/office/powerpoint/2010/main" val="1483657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EC1D62-C497-386C-EA1B-DD9046D58807}"/>
              </a:ext>
            </a:extLst>
          </p:cNvPr>
          <p:cNvSpPr txBox="1"/>
          <p:nvPr/>
        </p:nvSpPr>
        <p:spPr>
          <a:xfrm>
            <a:off x="584200" y="447912"/>
            <a:ext cx="2061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Agenda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A612BC-9608-0874-746F-26A4EB2A54B0}"/>
              </a:ext>
            </a:extLst>
          </p:cNvPr>
          <p:cNvSpPr txBox="1"/>
          <p:nvPr/>
        </p:nvSpPr>
        <p:spPr>
          <a:xfrm>
            <a:off x="584200" y="1094243"/>
            <a:ext cx="4705134" cy="3262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Overview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Cortex Code Features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Cortex Code Workflow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Cortex Code Templates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261927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0CB4AD-F6BF-E834-DE51-F168B873D144}"/>
              </a:ext>
            </a:extLst>
          </p:cNvPr>
          <p:cNvSpPr txBox="1"/>
          <p:nvPr/>
        </p:nvSpPr>
        <p:spPr>
          <a:xfrm>
            <a:off x="492456" y="372849"/>
            <a:ext cx="4283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Cortex Code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13DF42-F395-156E-8FA3-3964EB184388}"/>
              </a:ext>
            </a:extLst>
          </p:cNvPr>
          <p:cNvSpPr txBox="1"/>
          <p:nvPr/>
        </p:nvSpPr>
        <p:spPr>
          <a:xfrm>
            <a:off x="492456" y="1592062"/>
            <a:ext cx="10622012" cy="3381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Snowflake Cortex Code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(often called </a:t>
            </a:r>
            <a:r>
              <a:rPr lang="en-US" sz="1600" b="1" dirty="0" err="1">
                <a:latin typeface="Poppins" panose="00000500000000000000" pitchFamily="2" charset="0"/>
                <a:cs typeface="Poppins" panose="00000500000000000000" pitchFamily="2" charset="0"/>
              </a:rPr>
              <a:t>CoCo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) , a built in </a:t>
            </a:r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AI-powered development assistant 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that turns natural language into production-ready SQL and data pipelines instantly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Wide Range of LLM Support -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Cortex Code gives teams access to leading frontier models from Anthropic (Claude), OpenAI (GPT), Meta (Llama), Mistral, and Snowflake Arctic — all running within the Snowflake perimeter, allowing flexibility and cost optimization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Model-Level RBAC -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Administrators can grant or revoke access to specific LLMs via role-based controls, ensuring compliance with governance policies</a:t>
            </a:r>
          </a:p>
        </p:txBody>
      </p:sp>
    </p:spTree>
    <p:extLst>
      <p:ext uri="{BB962C8B-B14F-4D97-AF65-F5344CB8AC3E}">
        <p14:creationId xmlns:p14="http://schemas.microsoft.com/office/powerpoint/2010/main" val="1190975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B260A-6D86-9241-F26D-E542476EF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416FA2-0081-1E37-6FE1-FA2A6D06C647}"/>
              </a:ext>
            </a:extLst>
          </p:cNvPr>
          <p:cNvSpPr txBox="1"/>
          <p:nvPr/>
        </p:nvSpPr>
        <p:spPr>
          <a:xfrm>
            <a:off x="492456" y="372849"/>
            <a:ext cx="41649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Cortex Code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7146E2-64E0-AF2C-B325-4D9AD5727629}"/>
              </a:ext>
            </a:extLst>
          </p:cNvPr>
          <p:cNvSpPr txBox="1"/>
          <p:nvPr/>
        </p:nvSpPr>
        <p:spPr>
          <a:xfrm>
            <a:off x="492456" y="1077712"/>
            <a:ext cx="10622012" cy="3473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Snowflake Cortex Code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can helps us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Generate </a:t>
            </a:r>
            <a:r>
              <a:rPr lang="en-US" sz="1600" b="1" dirty="0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SQL queries 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from natural language descriptions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Explain, refactor, and modernize legacy </a:t>
            </a:r>
            <a:r>
              <a:rPr lang="en-US" sz="1600" b="1" dirty="0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stored procedures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Auto-generate </a:t>
            </a:r>
            <a:r>
              <a:rPr lang="en-US" sz="1600" b="1" dirty="0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full </a:t>
            </a:r>
            <a:r>
              <a:rPr lang="en-US" sz="1600" b="1" dirty="0" err="1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dbt</a:t>
            </a:r>
            <a:r>
              <a:rPr lang="en-US" sz="1600" b="1" dirty="0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project 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including SQL models, configurations, tests, and documentation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Build and deploy </a:t>
            </a:r>
            <a:r>
              <a:rPr lang="en-US" sz="1600" b="1" dirty="0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Snowflake Cortex agents 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using natural language commands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Write </a:t>
            </a:r>
            <a:r>
              <a:rPr lang="en-US" sz="1600" b="1" dirty="0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Python scripts and Snowpark 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code for data transformations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Generate </a:t>
            </a:r>
            <a:r>
              <a:rPr lang="en-US" sz="1600" b="1" dirty="0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Apache Airflow DAG 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definitions for pipeline orchestration</a:t>
            </a:r>
          </a:p>
        </p:txBody>
      </p:sp>
    </p:spTree>
    <p:extLst>
      <p:ext uri="{BB962C8B-B14F-4D97-AF65-F5344CB8AC3E}">
        <p14:creationId xmlns:p14="http://schemas.microsoft.com/office/powerpoint/2010/main" val="147812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3B222-359E-CCFC-2AFC-004E21243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326B72-5BC1-F000-6D11-7145F4DF3296}"/>
              </a:ext>
            </a:extLst>
          </p:cNvPr>
          <p:cNvSpPr txBox="1"/>
          <p:nvPr/>
        </p:nvSpPr>
        <p:spPr>
          <a:xfrm>
            <a:off x="492456" y="372849"/>
            <a:ext cx="5234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Cortex Code Features - DBT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9A6714-FC90-E46E-0693-E0FD2C41662B}"/>
              </a:ext>
            </a:extLst>
          </p:cNvPr>
          <p:cNvSpPr txBox="1"/>
          <p:nvPr/>
        </p:nvSpPr>
        <p:spPr>
          <a:xfrm>
            <a:off x="492456" y="986640"/>
            <a:ext cx="11159794" cy="378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Auto-generates full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dbt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project structure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including SQL models, schema YML files, configurations, tests, and documentation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Builds all transformation layers </a:t>
            </a:r>
            <a:r>
              <a:rPr lang="en-US" altLang="en-US" dirty="0">
                <a:latin typeface="Arial" panose="020B0604020202020204" pitchFamily="34" charset="0"/>
              </a:rPr>
              <a:t>like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staging, intermediate, and mart and publish models following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Snowflake best practices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Creates built-in </a:t>
            </a:r>
            <a:r>
              <a:rPr lang="en-US" altLang="en-US" b="1" dirty="0" err="1">
                <a:solidFill>
                  <a:srgbClr val="0070C0"/>
                </a:solidFill>
                <a:latin typeface="Arial" panose="020B0604020202020204" pitchFamily="34" charset="0"/>
              </a:rPr>
              <a:t>dbt</a:t>
            </a:r>
            <a:r>
              <a:rPr lang="en-US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 tests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not null, unique, accepted values, and relationships out of the box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Reads your actual Snowflake environment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including table structures, data types, and foreign key relationships before generating models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Handles full </a:t>
            </a:r>
            <a:r>
              <a:rPr lang="en-US" altLang="en-US" b="1" dirty="0" err="1">
                <a:solidFill>
                  <a:srgbClr val="0070C0"/>
                </a:solidFill>
                <a:latin typeface="Arial" panose="020B0604020202020204" pitchFamily="34" charset="0"/>
              </a:rPr>
              <a:t>dbt</a:t>
            </a:r>
            <a:r>
              <a:rPr lang="en-US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 workflow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including model dependencies, ref() references, sources configuration, and documentation strings </a:t>
            </a:r>
          </a:p>
        </p:txBody>
      </p:sp>
    </p:spTree>
    <p:extLst>
      <p:ext uri="{BB962C8B-B14F-4D97-AF65-F5344CB8AC3E}">
        <p14:creationId xmlns:p14="http://schemas.microsoft.com/office/powerpoint/2010/main" val="143865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3AC1B-B56B-0B6D-F4C7-4ED840293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18C0AD-3197-F348-5373-6819FD09CE46}"/>
              </a:ext>
            </a:extLst>
          </p:cNvPr>
          <p:cNvSpPr txBox="1"/>
          <p:nvPr/>
        </p:nvSpPr>
        <p:spPr>
          <a:xfrm>
            <a:off x="492456" y="372849"/>
            <a:ext cx="42979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Cortex Code 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A7C009-9DEF-7CD6-D5EE-5ECF52EC2802}"/>
              </a:ext>
            </a:extLst>
          </p:cNvPr>
          <p:cNvSpPr txBox="1"/>
          <p:nvPr/>
        </p:nvSpPr>
        <p:spPr>
          <a:xfrm>
            <a:off x="1400907" y="1046229"/>
            <a:ext cx="281359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“Create a staging model for customer table”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76A46F16-E121-7816-3ABB-EFE6789CC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5650" y="896068"/>
            <a:ext cx="4137654" cy="5589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9F3DBA-2D40-3AF5-A093-6F4195EB6A5D}"/>
              </a:ext>
            </a:extLst>
          </p:cNvPr>
          <p:cNvSpPr txBox="1"/>
          <p:nvPr/>
        </p:nvSpPr>
        <p:spPr>
          <a:xfrm>
            <a:off x="5779483" y="1277061"/>
            <a:ext cx="30909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“The system receives and reads the user's request”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CFA98E-14DD-444E-81DB-21229ACD4556}"/>
              </a:ext>
            </a:extLst>
          </p:cNvPr>
          <p:cNvSpPr txBox="1"/>
          <p:nvPr/>
        </p:nvSpPr>
        <p:spPr>
          <a:xfrm>
            <a:off x="5770496" y="1577397"/>
            <a:ext cx="41072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“The AI identifies that the user wants to create a </a:t>
            </a:r>
            <a:r>
              <a:rPr lang="en-US" sz="900" b="1" dirty="0" err="1">
                <a:latin typeface="Poppins" panose="00000500000000000000" pitchFamily="2" charset="0"/>
                <a:cs typeface="Poppins" panose="00000500000000000000" pitchFamily="2" charset="0"/>
              </a:rPr>
              <a:t>dbt</a:t>
            </a:r>
            <a:r>
              <a:rPr lang="en-US" sz="900" b="1" dirty="0">
                <a:latin typeface="Poppins" panose="00000500000000000000" pitchFamily="2" charset="0"/>
                <a:cs typeface="Poppins" panose="00000500000000000000" pitchFamily="2" charset="0"/>
              </a:rPr>
              <a:t> staging model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.”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1E7692-9BB9-9C6B-10FD-EFE20D3433D6}"/>
              </a:ext>
            </a:extLst>
          </p:cNvPr>
          <p:cNvSpPr txBox="1"/>
          <p:nvPr/>
        </p:nvSpPr>
        <p:spPr>
          <a:xfrm>
            <a:off x="5779483" y="1915958"/>
            <a:ext cx="55354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“The system checks if required details like </a:t>
            </a:r>
            <a:r>
              <a:rPr lang="en-US" sz="900" b="1" dirty="0">
                <a:latin typeface="Poppins" panose="00000500000000000000" pitchFamily="2" charset="0"/>
                <a:cs typeface="Poppins" panose="00000500000000000000" pitchFamily="2" charset="0"/>
              </a:rPr>
              <a:t>database, schema, and table name 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are provided.”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260CFE-5F87-C6B0-0803-256434B42163}"/>
              </a:ext>
            </a:extLst>
          </p:cNvPr>
          <p:cNvSpPr txBox="1"/>
          <p:nvPr/>
        </p:nvSpPr>
        <p:spPr>
          <a:xfrm>
            <a:off x="5779483" y="2338573"/>
            <a:ext cx="62279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“The system retrieves metadata such as </a:t>
            </a:r>
            <a:r>
              <a:rPr lang="en-US" sz="900" b="1" dirty="0">
                <a:latin typeface="Poppins" panose="00000500000000000000" pitchFamily="2" charset="0"/>
                <a:cs typeface="Poppins" panose="00000500000000000000" pitchFamily="2" charset="0"/>
              </a:rPr>
              <a:t>columns and data types of the customer table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from Snowflake.”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445ED6-0D9E-463A-9C68-7D71547C58EE}"/>
              </a:ext>
            </a:extLst>
          </p:cNvPr>
          <p:cNvSpPr txBox="1"/>
          <p:nvPr/>
        </p:nvSpPr>
        <p:spPr>
          <a:xfrm>
            <a:off x="1514954" y="2579077"/>
            <a:ext cx="2736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“The system verifies whether the </a:t>
            </a:r>
            <a:r>
              <a:rPr lang="en-US" sz="900" b="1" dirty="0">
                <a:latin typeface="Poppins" panose="00000500000000000000" pitchFamily="2" charset="0"/>
                <a:cs typeface="Poppins" panose="00000500000000000000" pitchFamily="2" charset="0"/>
              </a:rPr>
              <a:t>customer table exists in the specified schema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.”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2776AE-4A70-8E54-0EDE-01C19E1A4ED6}"/>
              </a:ext>
            </a:extLst>
          </p:cNvPr>
          <p:cNvSpPr txBox="1"/>
          <p:nvPr/>
        </p:nvSpPr>
        <p:spPr>
          <a:xfrm>
            <a:off x="5770495" y="2890969"/>
            <a:ext cx="48510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Inform user: “Customer table not found. Please verify the table name or schema.”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26D1FE-0E82-3AC8-3F9B-13871992B3FA}"/>
              </a:ext>
            </a:extLst>
          </p:cNvPr>
          <p:cNvSpPr txBox="1"/>
          <p:nvPr/>
        </p:nvSpPr>
        <p:spPr>
          <a:xfrm>
            <a:off x="5777636" y="3143656"/>
            <a:ext cx="54296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“The AI decides how the staging model should be created following </a:t>
            </a:r>
            <a:r>
              <a:rPr lang="en-US" sz="900" b="1" dirty="0" err="1">
                <a:latin typeface="Poppins" panose="00000500000000000000" pitchFamily="2" charset="0"/>
                <a:cs typeface="Poppins" panose="00000500000000000000" pitchFamily="2" charset="0"/>
              </a:rPr>
              <a:t>dbt</a:t>
            </a:r>
            <a:r>
              <a:rPr lang="en-US" sz="900" b="1" dirty="0">
                <a:latin typeface="Poppins" panose="00000500000000000000" pitchFamily="2" charset="0"/>
                <a:cs typeface="Poppins" panose="00000500000000000000" pitchFamily="2" charset="0"/>
              </a:rPr>
              <a:t> project standards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595FB0-EBC2-9F8F-0A14-730621B4912A}"/>
              </a:ext>
            </a:extLst>
          </p:cNvPr>
          <p:cNvSpPr txBox="1"/>
          <p:nvPr/>
        </p:nvSpPr>
        <p:spPr>
          <a:xfrm>
            <a:off x="5777636" y="3443365"/>
            <a:ext cx="55659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“The system plans steps like </a:t>
            </a:r>
            <a:r>
              <a:rPr lang="en-US" sz="900" b="1" dirty="0">
                <a:latin typeface="Poppins" panose="00000500000000000000" pitchFamily="2" charset="0"/>
                <a:cs typeface="Poppins" panose="00000500000000000000" pitchFamily="2" charset="0"/>
              </a:rPr>
              <a:t>creating source YAML, staging SQL, and model documentation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4E2FC4-8146-7C4D-D161-AD4C9EE1754B}"/>
              </a:ext>
            </a:extLst>
          </p:cNvPr>
          <p:cNvSpPr txBox="1"/>
          <p:nvPr/>
        </p:nvSpPr>
        <p:spPr>
          <a:xfrm>
            <a:off x="5777636" y="3859466"/>
            <a:ext cx="43091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“The AI generates the </a:t>
            </a:r>
            <a:r>
              <a:rPr lang="en-US" sz="900" b="1" dirty="0" err="1">
                <a:latin typeface="Poppins" panose="00000500000000000000" pitchFamily="2" charset="0"/>
                <a:cs typeface="Poppins" panose="00000500000000000000" pitchFamily="2" charset="0"/>
              </a:rPr>
              <a:t>dbt</a:t>
            </a:r>
            <a:r>
              <a:rPr lang="en-US" sz="900" b="1" dirty="0">
                <a:latin typeface="Poppins" panose="00000500000000000000" pitchFamily="2" charset="0"/>
                <a:cs typeface="Poppins" panose="00000500000000000000" pitchFamily="2" charset="0"/>
              </a:rPr>
              <a:t> staging SQL model and YAML definition files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5ECD79-B876-ED09-9418-3CC070148B04}"/>
              </a:ext>
            </a:extLst>
          </p:cNvPr>
          <p:cNvSpPr txBox="1"/>
          <p:nvPr/>
        </p:nvSpPr>
        <p:spPr>
          <a:xfrm>
            <a:off x="1810054" y="2146790"/>
            <a:ext cx="2359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Ask the user: “Which database and schema contain the customer table?”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81E5EE-A62D-C4CA-5E7B-0C9F53CD0E54}"/>
              </a:ext>
            </a:extLst>
          </p:cNvPr>
          <p:cNvSpPr txBox="1"/>
          <p:nvPr/>
        </p:nvSpPr>
        <p:spPr>
          <a:xfrm>
            <a:off x="5777636" y="4223666"/>
            <a:ext cx="52245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“The system checks whether the generated code </a:t>
            </a:r>
            <a:r>
              <a:rPr lang="en-US" sz="900" b="1" dirty="0">
                <a:latin typeface="Poppins" panose="00000500000000000000" pitchFamily="2" charset="0"/>
                <a:cs typeface="Poppins" panose="00000500000000000000" pitchFamily="2" charset="0"/>
              </a:rPr>
              <a:t>follows </a:t>
            </a:r>
            <a:r>
              <a:rPr lang="en-US" sz="900" b="1" dirty="0" err="1">
                <a:latin typeface="Poppins" panose="00000500000000000000" pitchFamily="2" charset="0"/>
                <a:cs typeface="Poppins" panose="00000500000000000000" pitchFamily="2" charset="0"/>
              </a:rPr>
              <a:t>dbt</a:t>
            </a:r>
            <a:r>
              <a:rPr lang="en-US" sz="900" b="1" dirty="0">
                <a:latin typeface="Poppins" panose="00000500000000000000" pitchFamily="2" charset="0"/>
                <a:cs typeface="Poppins" panose="00000500000000000000" pitchFamily="2" charset="0"/>
              </a:rPr>
              <a:t> syntax and project rules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12B1B8-DE5C-78D9-8251-8742748B872C}"/>
              </a:ext>
            </a:extLst>
          </p:cNvPr>
          <p:cNvSpPr txBox="1"/>
          <p:nvPr/>
        </p:nvSpPr>
        <p:spPr>
          <a:xfrm>
            <a:off x="1478085" y="6070460"/>
            <a:ext cx="273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“The system formats the output and presents the ready-to-use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dbt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model code”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B99AFF-765A-0653-9F14-8B920FE3B6AE}"/>
              </a:ext>
            </a:extLst>
          </p:cNvPr>
          <p:cNvSpPr txBox="1"/>
          <p:nvPr/>
        </p:nvSpPr>
        <p:spPr>
          <a:xfrm>
            <a:off x="2176761" y="4135009"/>
            <a:ext cx="20377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“</a:t>
            </a:r>
            <a:r>
              <a:rPr lang="en-US" sz="900" dirty="0"/>
              <a:t>AI fixes the code and regenerates it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9F2AA7-C491-C5D5-8FCB-4A91A57BD4D8}"/>
              </a:ext>
            </a:extLst>
          </p:cNvPr>
          <p:cNvSpPr txBox="1"/>
          <p:nvPr/>
        </p:nvSpPr>
        <p:spPr>
          <a:xfrm>
            <a:off x="5770494" y="5731100"/>
            <a:ext cx="43669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“The system can optionally </a:t>
            </a:r>
            <a:r>
              <a:rPr lang="en-US" sz="900" b="1" dirty="0">
                <a:latin typeface="Poppins" panose="00000500000000000000" pitchFamily="2" charset="0"/>
                <a:cs typeface="Poppins" panose="00000500000000000000" pitchFamily="2" charset="0"/>
              </a:rPr>
              <a:t>run the query to test if it works successfully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0BA3C2-F064-A793-D240-CB2BA19AE31D}"/>
              </a:ext>
            </a:extLst>
          </p:cNvPr>
          <p:cNvSpPr txBox="1"/>
          <p:nvPr/>
        </p:nvSpPr>
        <p:spPr>
          <a:xfrm>
            <a:off x="5777636" y="5402697"/>
            <a:ext cx="41152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“Final validation ensures the SQL is </a:t>
            </a:r>
            <a:r>
              <a:rPr lang="en-US" sz="900" b="1" dirty="0">
                <a:latin typeface="Poppins" panose="00000500000000000000" pitchFamily="2" charset="0"/>
                <a:cs typeface="Poppins" panose="00000500000000000000" pitchFamily="2" charset="0"/>
              </a:rPr>
              <a:t>correct and logically consistent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B8F25C-C416-209F-DF1F-D72571D2080C}"/>
              </a:ext>
            </a:extLst>
          </p:cNvPr>
          <p:cNvSpPr txBox="1"/>
          <p:nvPr/>
        </p:nvSpPr>
        <p:spPr>
          <a:xfrm>
            <a:off x="5777636" y="5017469"/>
            <a:ext cx="48077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“The query is optimized for </a:t>
            </a:r>
            <a:r>
              <a:rPr lang="en-US" sz="900" b="1" dirty="0">
                <a:latin typeface="Poppins" panose="00000500000000000000" pitchFamily="2" charset="0"/>
                <a:cs typeface="Poppins" panose="00000500000000000000" pitchFamily="2" charset="0"/>
              </a:rPr>
              <a:t>better performance and efficient warehouse usage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EE57A7-991E-CD02-D5A2-CE5E6050E619}"/>
              </a:ext>
            </a:extLst>
          </p:cNvPr>
          <p:cNvSpPr txBox="1"/>
          <p:nvPr/>
        </p:nvSpPr>
        <p:spPr>
          <a:xfrm>
            <a:off x="5770494" y="4639418"/>
            <a:ext cx="51828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“The system ensures the generated code </a:t>
            </a:r>
            <a:r>
              <a:rPr lang="en-US" sz="900" b="1" dirty="0">
                <a:latin typeface="Poppins" panose="00000500000000000000" pitchFamily="2" charset="0"/>
                <a:cs typeface="Poppins" panose="00000500000000000000" pitchFamily="2" charset="0"/>
              </a:rPr>
              <a:t>does not violate security or access policies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A0DF0A-3B66-3B74-2F33-8D806A4AF58A}"/>
              </a:ext>
            </a:extLst>
          </p:cNvPr>
          <p:cNvSpPr txBox="1"/>
          <p:nvPr/>
        </p:nvSpPr>
        <p:spPr>
          <a:xfrm>
            <a:off x="6940295" y="6083230"/>
            <a:ext cx="3041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“The user receives </a:t>
            </a:r>
            <a:r>
              <a:rPr lang="en-US" sz="900" dirty="0" err="1">
                <a:latin typeface="Poppins" panose="00000500000000000000" pitchFamily="2" charset="0"/>
                <a:cs typeface="Poppins" panose="00000500000000000000" pitchFamily="2" charset="0"/>
              </a:rPr>
              <a:t>dbt</a:t>
            </a:r>
            <a:r>
              <a:rPr lang="en-US" sz="900" dirty="0">
                <a:latin typeface="Poppins" panose="00000500000000000000" pitchFamily="2" charset="0"/>
                <a:cs typeface="Poppins" panose="00000500000000000000" pitchFamily="2" charset="0"/>
              </a:rPr>
              <a:t> SQL model + YAML definition files ready to commit to the repository”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2FB4F6-8EA9-571C-B98E-63CA626FA36E}"/>
              </a:ext>
            </a:extLst>
          </p:cNvPr>
          <p:cNvSpPr txBox="1"/>
          <p:nvPr/>
        </p:nvSpPr>
        <p:spPr>
          <a:xfrm>
            <a:off x="1258554" y="3352737"/>
            <a:ext cx="2911159" cy="276999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AI-Powered Code Generation Layer</a:t>
            </a:r>
          </a:p>
        </p:txBody>
      </p:sp>
    </p:spTree>
    <p:extLst>
      <p:ext uri="{BB962C8B-B14F-4D97-AF65-F5344CB8AC3E}">
        <p14:creationId xmlns:p14="http://schemas.microsoft.com/office/powerpoint/2010/main" val="2492631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ECBD6-5F16-4453-C99D-3B8B0C1BD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8D440C-50C6-0259-A0FE-7D8E7CEA1ECF}"/>
              </a:ext>
            </a:extLst>
          </p:cNvPr>
          <p:cNvSpPr txBox="1"/>
          <p:nvPr/>
        </p:nvSpPr>
        <p:spPr>
          <a:xfrm>
            <a:off x="492456" y="372849"/>
            <a:ext cx="4512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Cortex Code Templates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830036-58A8-00AC-ED21-12DE61949D0D}"/>
              </a:ext>
            </a:extLst>
          </p:cNvPr>
          <p:cNvSpPr txBox="1"/>
          <p:nvPr/>
        </p:nvSpPr>
        <p:spPr>
          <a:xfrm>
            <a:off x="492456" y="1045949"/>
            <a:ext cx="2419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Source Model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92D68-B0CC-E3CD-18E0-5E5769181128}"/>
              </a:ext>
            </a:extLst>
          </p:cNvPr>
          <p:cNvSpPr txBox="1"/>
          <p:nvPr/>
        </p:nvSpPr>
        <p:spPr>
          <a:xfrm>
            <a:off x="603250" y="1733550"/>
            <a:ext cx="5975350" cy="2062103"/>
          </a:xfrm>
          <a:prstGeom prst="rect">
            <a:avLst/>
          </a:prstGeom>
          <a:noFill/>
          <a:ln>
            <a:solidFill>
              <a:srgbClr val="0B4D8F"/>
            </a:solidFill>
          </a:ln>
        </p:spPr>
        <p:txBody>
          <a:bodyPr wrap="square" rtlCol="0">
            <a:spAutoFit/>
          </a:bodyPr>
          <a:lstStyle/>
          <a:p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@(skill:dbt-router) </a:t>
            </a:r>
          </a:p>
          <a:p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Create </a:t>
            </a:r>
            <a:r>
              <a:rPr lang="en-US" sz="1600" b="1" dirty="0" err="1">
                <a:latin typeface="Poppins" panose="00000500000000000000" pitchFamily="2" charset="0"/>
                <a:cs typeface="Poppins" panose="00000500000000000000" pitchFamily="2" charset="0"/>
              </a:rPr>
              <a:t>dbt</a:t>
            </a:r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 source model:</a:t>
            </a: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Database: 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CORTEX_ANALYST_DEMO</a:t>
            </a: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Schema: 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INSURANCE_RAW</a:t>
            </a: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Table Name: 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CLAIMS</a:t>
            </a:r>
          </a:p>
          <a:p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914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BE808-23CB-6C30-567A-D772A8DBA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7BFBFE-8337-1CD3-C1C9-5164CCEE7C06}"/>
              </a:ext>
            </a:extLst>
          </p:cNvPr>
          <p:cNvSpPr txBox="1"/>
          <p:nvPr/>
        </p:nvSpPr>
        <p:spPr>
          <a:xfrm>
            <a:off x="492456" y="372849"/>
            <a:ext cx="4512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Cortex Code Templates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C6CEC9-EFFD-8118-F40F-3575AAB7A7C6}"/>
              </a:ext>
            </a:extLst>
          </p:cNvPr>
          <p:cNvSpPr txBox="1"/>
          <p:nvPr/>
        </p:nvSpPr>
        <p:spPr>
          <a:xfrm>
            <a:off x="492456" y="1045949"/>
            <a:ext cx="22509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Stage Model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A0542B-95E6-7B73-B740-674FDF69C85D}"/>
              </a:ext>
            </a:extLst>
          </p:cNvPr>
          <p:cNvSpPr txBox="1"/>
          <p:nvPr/>
        </p:nvSpPr>
        <p:spPr>
          <a:xfrm>
            <a:off x="603250" y="1733550"/>
            <a:ext cx="5975350" cy="2308324"/>
          </a:xfrm>
          <a:prstGeom prst="rect">
            <a:avLst/>
          </a:prstGeom>
          <a:noFill/>
          <a:ln>
            <a:solidFill>
              <a:srgbClr val="0B4D8F"/>
            </a:solidFill>
          </a:ln>
        </p:spPr>
        <p:txBody>
          <a:bodyPr wrap="square" rtlCol="0">
            <a:spAutoFit/>
          </a:bodyPr>
          <a:lstStyle/>
          <a:p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@(skill:dbt-router) </a:t>
            </a:r>
          </a:p>
          <a:p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Create staging model:</a:t>
            </a: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Database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: CORTEX_ANALYST_DEMO</a:t>
            </a: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Schema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: INSURANCE_RAW</a:t>
            </a: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Table Name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: CLAIMS</a:t>
            </a: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Primary Key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: Check the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contraints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982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DD9BC-E539-4F48-5F11-71C0AA7C6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4B80AC-4666-95E5-E342-2D6FC7AD41B9}"/>
              </a:ext>
            </a:extLst>
          </p:cNvPr>
          <p:cNvSpPr txBox="1"/>
          <p:nvPr/>
        </p:nvSpPr>
        <p:spPr>
          <a:xfrm>
            <a:off x="492456" y="372849"/>
            <a:ext cx="4512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Cortex Code Templates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D85841-96B7-F28E-1966-E016FF8C0254}"/>
              </a:ext>
            </a:extLst>
          </p:cNvPr>
          <p:cNvSpPr txBox="1"/>
          <p:nvPr/>
        </p:nvSpPr>
        <p:spPr>
          <a:xfrm>
            <a:off x="492456" y="1045949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Intermediate Model: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CDB16C-0EAA-9702-50D5-F9C4DB48C3FF}"/>
              </a:ext>
            </a:extLst>
          </p:cNvPr>
          <p:cNvSpPr txBox="1"/>
          <p:nvPr/>
        </p:nvSpPr>
        <p:spPr>
          <a:xfrm>
            <a:off x="539750" y="1507614"/>
            <a:ext cx="5975350" cy="4524315"/>
          </a:xfrm>
          <a:prstGeom prst="rect">
            <a:avLst/>
          </a:prstGeom>
          <a:noFill/>
          <a:ln>
            <a:solidFill>
              <a:srgbClr val="0B4D8F"/>
            </a:solidFill>
          </a:ln>
        </p:spPr>
        <p:txBody>
          <a:bodyPr wrap="square" rtlCol="0">
            <a:spAutoFit/>
          </a:bodyPr>
          <a:lstStyle/>
          <a:p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@(skill:dbt-router) </a:t>
            </a:r>
          </a:p>
          <a:p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Create intermediate model.</a:t>
            </a: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Pipeline Sub folder: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insurance_pipeline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Input tables:</a:t>
            </a: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stg__insurance_raw__claims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stg__insurance_raw__policies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Transformations:</a:t>
            </a: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Joins: 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Join claims to policies on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policy_id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filters: 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Only include claims with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claim_status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IN ('APPROVED', 'SETTLED’)</a:t>
            </a: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Aggregations: 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None</a:t>
            </a: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computed columns: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net_payout_amount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=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approved_amount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-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deductible_applied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days_to_settle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=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datediff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(day,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report_date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settlement_date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</a:p>
          <a:p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829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78522-B167-A0E1-F962-D7CF4DF4A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381E57-435E-050B-B4DB-84C795840A21}"/>
              </a:ext>
            </a:extLst>
          </p:cNvPr>
          <p:cNvSpPr txBox="1"/>
          <p:nvPr/>
        </p:nvSpPr>
        <p:spPr>
          <a:xfrm>
            <a:off x="492456" y="372849"/>
            <a:ext cx="4512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Cortex Code Templates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D099DD-9E13-1E80-70FB-007F95E527C4}"/>
              </a:ext>
            </a:extLst>
          </p:cNvPr>
          <p:cNvSpPr txBox="1"/>
          <p:nvPr/>
        </p:nvSpPr>
        <p:spPr>
          <a:xfrm>
            <a:off x="492456" y="1045949"/>
            <a:ext cx="3180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Dimensional Model: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794A27-8F52-CBF4-774A-3940BD8A8720}"/>
              </a:ext>
            </a:extLst>
          </p:cNvPr>
          <p:cNvSpPr txBox="1"/>
          <p:nvPr/>
        </p:nvSpPr>
        <p:spPr>
          <a:xfrm>
            <a:off x="539750" y="1507614"/>
            <a:ext cx="5975350" cy="4524315"/>
          </a:xfrm>
          <a:prstGeom prst="rect">
            <a:avLst/>
          </a:prstGeom>
          <a:noFill/>
          <a:ln>
            <a:solidFill>
              <a:srgbClr val="0B4D8F"/>
            </a:solidFill>
          </a:ln>
        </p:spPr>
        <p:txBody>
          <a:bodyPr wrap="square" rtlCol="0">
            <a:spAutoFit/>
          </a:bodyPr>
          <a:lstStyle/>
          <a:p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@(skill:dbt-router) </a:t>
            </a:r>
          </a:p>
          <a:p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Create marts.</a:t>
            </a: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Pipeline Sub folder: 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policy</a:t>
            </a: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Input tables:</a:t>
            </a: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stg__genius__policy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Grain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policy_id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Columns:</a:t>
            </a: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policy_id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policy_number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policy_type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policy_status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effective_date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expiration_date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premium_amount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customer_id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Materialization: 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table</a:t>
            </a:r>
          </a:p>
          <a:p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471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B905C-8E93-5261-FC0E-F1A6C966E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1ADA57-76DA-3ADA-3D1A-8BD358778A05}"/>
              </a:ext>
            </a:extLst>
          </p:cNvPr>
          <p:cNvSpPr txBox="1"/>
          <p:nvPr/>
        </p:nvSpPr>
        <p:spPr>
          <a:xfrm>
            <a:off x="492456" y="372849"/>
            <a:ext cx="4512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Cortex Code Templates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452AB8-FEFC-9D79-951F-803CBE69BD42}"/>
              </a:ext>
            </a:extLst>
          </p:cNvPr>
          <p:cNvSpPr txBox="1"/>
          <p:nvPr/>
        </p:nvSpPr>
        <p:spPr>
          <a:xfrm>
            <a:off x="492456" y="1045949"/>
            <a:ext cx="19319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Fact Model: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926682-D982-ED87-7228-0492BB5D8341}"/>
              </a:ext>
            </a:extLst>
          </p:cNvPr>
          <p:cNvSpPr txBox="1"/>
          <p:nvPr/>
        </p:nvSpPr>
        <p:spPr>
          <a:xfrm>
            <a:off x="539750" y="1507614"/>
            <a:ext cx="5975350" cy="4278094"/>
          </a:xfrm>
          <a:prstGeom prst="rect">
            <a:avLst/>
          </a:prstGeom>
          <a:noFill/>
          <a:ln>
            <a:solidFill>
              <a:srgbClr val="0B4D8F"/>
            </a:solidFill>
          </a:ln>
        </p:spPr>
        <p:txBody>
          <a:bodyPr wrap="square" rtlCol="0">
            <a:spAutoFit/>
          </a:bodyPr>
          <a:lstStyle/>
          <a:p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@(skill:dbt-router) </a:t>
            </a:r>
          </a:p>
          <a:p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Create marts.</a:t>
            </a: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Pipeline Sub folder: 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policy</a:t>
            </a: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Input tables:</a:t>
            </a:r>
          </a:p>
          <a:p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stg__genius__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policy_transactions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Grain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policy_id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Measures:</a:t>
            </a: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billing_amount_usd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gl_amount_usd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payment_amount_usd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total_discrepancy_usd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Dimensions:</a:t>
            </a: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product_line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region</a:t>
            </a: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reconciliation_status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Materialization</a:t>
            </a:r>
            <a:r>
              <a:rPr lang="en-US" sz="1600" b="1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1600">
                <a:latin typeface="Poppins" panose="00000500000000000000" pitchFamily="2" charset="0"/>
                <a:cs typeface="Poppins" panose="00000500000000000000" pitchFamily="2" charset="0"/>
              </a:rPr>
              <a:t>incremental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475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5468A-BB82-A434-2AA3-9B8C65720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1BF26D-3044-EDB9-8C40-75283F3386A5}"/>
              </a:ext>
            </a:extLst>
          </p:cNvPr>
          <p:cNvSpPr txBox="1"/>
          <p:nvPr/>
        </p:nvSpPr>
        <p:spPr>
          <a:xfrm>
            <a:off x="492456" y="372849"/>
            <a:ext cx="4512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Cortex Code Templates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A1F80D-69CC-C367-9B6B-D3E39BD7B8ED}"/>
              </a:ext>
            </a:extLst>
          </p:cNvPr>
          <p:cNvSpPr txBox="1"/>
          <p:nvPr/>
        </p:nvSpPr>
        <p:spPr>
          <a:xfrm>
            <a:off x="492456" y="1045949"/>
            <a:ext cx="23599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Publish Model: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B0536F-1E55-1F50-01A9-A88486B2AE23}"/>
              </a:ext>
            </a:extLst>
          </p:cNvPr>
          <p:cNvSpPr txBox="1"/>
          <p:nvPr/>
        </p:nvSpPr>
        <p:spPr>
          <a:xfrm>
            <a:off x="555956" y="1510279"/>
            <a:ext cx="4797094" cy="4524315"/>
          </a:xfrm>
          <a:prstGeom prst="rect">
            <a:avLst/>
          </a:prstGeom>
          <a:noFill/>
          <a:ln>
            <a:solidFill>
              <a:srgbClr val="0B4D8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@(skill:dbt-router)</a:t>
            </a:r>
          </a:p>
          <a:p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Create a publish model.</a:t>
            </a: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Pipeline Folder: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insurance_pipeline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Publish Folder Name: 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reporting</a:t>
            </a: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Model Name: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policy__claims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Input Mart Models:</a:t>
            </a: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fct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__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claims_summary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dim__customer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dim__policy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Columns Required:</a:t>
            </a: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claim_id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customer_name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policy_number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claim_status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claim_amount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net_payout_amount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days_to_settle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region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2AF32E-8C71-A1E3-19A3-24D43F944CAB}"/>
              </a:ext>
            </a:extLst>
          </p:cNvPr>
          <p:cNvSpPr txBox="1"/>
          <p:nvPr/>
        </p:nvSpPr>
        <p:spPr>
          <a:xfrm>
            <a:off x="5813756" y="1507614"/>
            <a:ext cx="4587544" cy="1815882"/>
          </a:xfrm>
          <a:prstGeom prst="rect">
            <a:avLst/>
          </a:prstGeom>
          <a:noFill/>
          <a:ln>
            <a:solidFill>
              <a:srgbClr val="0B4D8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Filters: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claim_status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IN ('APPROVED', 'SETTLED')</a:t>
            </a: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Business Description: 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Dataset used by BI dashboards to track approved and settled insurance claims with customer and policy context.</a:t>
            </a:r>
          </a:p>
          <a:p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Materialization: 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view</a:t>
            </a:r>
          </a:p>
        </p:txBody>
      </p:sp>
    </p:spTree>
    <p:extLst>
      <p:ext uri="{BB962C8B-B14F-4D97-AF65-F5344CB8AC3E}">
        <p14:creationId xmlns:p14="http://schemas.microsoft.com/office/powerpoint/2010/main" val="77565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D3224E-6C15-CC60-E136-CF5FCA6A402F}"/>
              </a:ext>
            </a:extLst>
          </p:cNvPr>
          <p:cNvSpPr txBox="1"/>
          <p:nvPr/>
        </p:nvSpPr>
        <p:spPr>
          <a:xfrm>
            <a:off x="4124656" y="2680553"/>
            <a:ext cx="40858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Appendix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9D9445-A0B8-E0FF-1F2F-BAC6029272C2}"/>
              </a:ext>
            </a:extLst>
          </p:cNvPr>
          <p:cNvSpPr/>
          <p:nvPr/>
        </p:nvSpPr>
        <p:spPr>
          <a:xfrm>
            <a:off x="3138985" y="2060812"/>
            <a:ext cx="5240740" cy="216999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432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760EC-81BF-5A0E-F25A-1402C423E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AC3041-98F2-0981-8FCD-999D119B716C}"/>
              </a:ext>
            </a:extLst>
          </p:cNvPr>
          <p:cNvSpPr txBox="1"/>
          <p:nvPr/>
        </p:nvSpPr>
        <p:spPr>
          <a:xfrm>
            <a:off x="492456" y="372849"/>
            <a:ext cx="39677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Templates Checklist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5B6725D-71C1-148B-3F25-325C585A57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420715"/>
              </p:ext>
            </p:extLst>
          </p:nvPr>
        </p:nvGraphicFramePr>
        <p:xfrm>
          <a:off x="492456" y="1251094"/>
          <a:ext cx="9007522" cy="4906375"/>
        </p:xfrm>
        <a:graphic>
          <a:graphicData uri="http://schemas.openxmlformats.org/drawingml/2006/table">
            <a:tbl>
              <a:tblPr firstRow="1" firstCol="1"/>
              <a:tblGrid>
                <a:gridCol w="2737933">
                  <a:extLst>
                    <a:ext uri="{9D8B030D-6E8A-4147-A177-3AD203B41FA5}">
                      <a16:colId xmlns:a16="http://schemas.microsoft.com/office/drawing/2014/main" val="2164765836"/>
                    </a:ext>
                  </a:extLst>
                </a:gridCol>
                <a:gridCol w="1396622">
                  <a:extLst>
                    <a:ext uri="{9D8B030D-6E8A-4147-A177-3AD203B41FA5}">
                      <a16:colId xmlns:a16="http://schemas.microsoft.com/office/drawing/2014/main" val="989962812"/>
                    </a:ext>
                  </a:extLst>
                </a:gridCol>
                <a:gridCol w="1189203">
                  <a:extLst>
                    <a:ext uri="{9D8B030D-6E8A-4147-A177-3AD203B41FA5}">
                      <a16:colId xmlns:a16="http://schemas.microsoft.com/office/drawing/2014/main" val="1410780109"/>
                    </a:ext>
                  </a:extLst>
                </a:gridCol>
                <a:gridCol w="1290608">
                  <a:extLst>
                    <a:ext uri="{9D8B030D-6E8A-4147-A177-3AD203B41FA5}">
                      <a16:colId xmlns:a16="http://schemas.microsoft.com/office/drawing/2014/main" val="2122655946"/>
                    </a:ext>
                  </a:extLst>
                </a:gridCol>
                <a:gridCol w="1133891">
                  <a:extLst>
                    <a:ext uri="{9D8B030D-6E8A-4147-A177-3AD203B41FA5}">
                      <a16:colId xmlns:a16="http://schemas.microsoft.com/office/drawing/2014/main" val="99157291"/>
                    </a:ext>
                  </a:extLst>
                </a:gridCol>
                <a:gridCol w="1259265">
                  <a:extLst>
                    <a:ext uri="{9D8B030D-6E8A-4147-A177-3AD203B41FA5}">
                      <a16:colId xmlns:a16="http://schemas.microsoft.com/office/drawing/2014/main" val="3283661393"/>
                    </a:ext>
                  </a:extLst>
                </a:gridCol>
              </a:tblGrid>
              <a:tr h="291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Consideration  </a:t>
                      </a:r>
                      <a:endParaRPr lang="en-US" sz="12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Source </a:t>
                      </a:r>
                      <a:endParaRPr lang="en-US" sz="12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Staging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Intermediate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Mart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Publish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035844"/>
                  </a:ext>
                </a:extLst>
              </a:tr>
              <a:tr h="200665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Naming conventions  </a:t>
                      </a:r>
                      <a:endParaRPr lang="en-US" sz="1200" b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555496"/>
                  </a:ext>
                </a:extLst>
              </a:tr>
              <a:tr h="200665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Source objects definition  </a:t>
                      </a:r>
                      <a:endParaRPr lang="en-US" sz="1200" b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100699"/>
                  </a:ext>
                </a:extLst>
              </a:tr>
              <a:tr h="200665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Target model definition  </a:t>
                      </a:r>
                      <a:endParaRPr lang="en-US" sz="1200" b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016552"/>
                  </a:ext>
                </a:extLst>
              </a:tr>
              <a:tr h="200665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Src/tgt schema awareness</a:t>
                      </a:r>
                      <a:endParaRPr lang="en-US" sz="1200" b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878817"/>
                  </a:ext>
                </a:extLst>
              </a:tr>
              <a:tr h="200665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dbt project structure  </a:t>
                      </a:r>
                      <a:endParaRPr lang="en-US" sz="1200" b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964432"/>
                  </a:ext>
                </a:extLst>
              </a:tr>
              <a:tr h="200665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Model layer selection  </a:t>
                      </a:r>
                      <a:endParaRPr lang="en-US" sz="1200" b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899470"/>
                  </a:ext>
                </a:extLst>
              </a:tr>
              <a:tr h="200665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Transformation logic  </a:t>
                      </a:r>
                      <a:endParaRPr lang="en-US" sz="1200" b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869162"/>
                  </a:ext>
                </a:extLst>
              </a:tr>
              <a:tr h="200665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Join logic  </a:t>
                      </a:r>
                      <a:endParaRPr lang="en-US" sz="1200" b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093623"/>
                  </a:ext>
                </a:extLst>
              </a:tr>
              <a:tr h="200665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Aggregations  </a:t>
                      </a:r>
                      <a:endParaRPr lang="en-US" sz="1200" b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792113"/>
                  </a:ext>
                </a:extLst>
              </a:tr>
              <a:tr h="200665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Incremental loading logic  </a:t>
                      </a:r>
                      <a:endParaRPr lang="en-US" sz="1200" b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316427"/>
                  </a:ext>
                </a:extLst>
              </a:tr>
              <a:tr h="200665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Surrogate key generation  </a:t>
                      </a:r>
                      <a:endParaRPr lang="en-US" sz="1200" b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43202"/>
                  </a:ext>
                </a:extLst>
              </a:tr>
              <a:tr h="200665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Audit columns</a:t>
                      </a:r>
                      <a:endParaRPr lang="en-US" sz="1200" b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061027"/>
                  </a:ext>
                </a:extLst>
              </a:tr>
              <a:tr h="200665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Testing rules integration  </a:t>
                      </a:r>
                      <a:endParaRPr lang="en-US" sz="1200" b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120109"/>
                  </a:ext>
                </a:extLst>
              </a:tr>
              <a:tr h="200665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YAML doc generation  </a:t>
                      </a:r>
                      <a:endParaRPr lang="en-US" sz="1200" b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026770"/>
                  </a:ext>
                </a:extLst>
              </a:tr>
              <a:tr h="200665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SQL pattern usage  </a:t>
                      </a:r>
                      <a:endParaRPr lang="en-US" sz="1200" b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715292"/>
                  </a:ext>
                </a:extLst>
              </a:tr>
              <a:tr h="200665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CTE modeling pattern  </a:t>
                      </a:r>
                      <a:endParaRPr lang="en-US" sz="1200" b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363052"/>
                  </a:ext>
                </a:extLst>
              </a:tr>
              <a:tr h="200665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Modular model generation  </a:t>
                      </a:r>
                      <a:endParaRPr lang="en-US" sz="1200" b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762509"/>
                  </a:ext>
                </a:extLst>
              </a:tr>
              <a:tr h="200665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dbt ref() relationships  </a:t>
                      </a:r>
                      <a:endParaRPr lang="en-US" sz="1200" b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686461"/>
                  </a:ext>
                </a:extLst>
              </a:tr>
              <a:tr h="200665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Source() usage  </a:t>
                      </a:r>
                      <a:endParaRPr lang="en-US" sz="1200" b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327286"/>
                  </a:ext>
                </a:extLst>
              </a:tr>
              <a:tr h="200665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0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Data test generation  </a:t>
                      </a:r>
                      <a:endParaRPr lang="en-US" sz="1200" b="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063001"/>
                  </a:ext>
                </a:extLst>
              </a:tr>
              <a:tr h="200665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Pipeline dependency</a:t>
                      </a:r>
                      <a:endParaRPr lang="en-US" sz="1200" b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✔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6647"/>
                  </a:ext>
                </a:extLst>
              </a:tr>
              <a:tr h="200665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E2E pipeline generation</a:t>
                      </a:r>
                      <a:endParaRPr lang="en-US" sz="1200" b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682836"/>
                  </a:ext>
                </a:extLst>
              </a:tr>
              <a:tr h="200665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0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Synthetic data creation </a:t>
                      </a:r>
                      <a:endParaRPr lang="en-US" sz="1200" b="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9C0006"/>
                          </a:solidFill>
                          <a:effectLst/>
                          <a:latin typeface="Poppins" panose="00000500000000000000" pitchFamily="2" charset="0"/>
                          <a:ea typeface="Aptos" panose="020B0004020202020204" pitchFamily="34" charset="0"/>
                          <a:cs typeface="Poppins" panose="00000500000000000000" pitchFamily="2" charset="0"/>
                        </a:rPr>
                        <a:t>✖ </a:t>
                      </a:r>
                      <a:endParaRPr lang="en-US" sz="12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601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0655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E1EDB-ADD8-2345-45E4-2EEDDD83B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03A7AA-98A0-BE4F-62CE-DF7EF7FF6E2E}"/>
              </a:ext>
            </a:extLst>
          </p:cNvPr>
          <p:cNvSpPr txBox="1"/>
          <p:nvPr/>
        </p:nvSpPr>
        <p:spPr>
          <a:xfrm>
            <a:off x="492456" y="372849"/>
            <a:ext cx="3634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Performance Stats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FFB2455-2C4A-6BF5-90A7-87F2E517A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453747"/>
              </p:ext>
            </p:extLst>
          </p:nvPr>
        </p:nvGraphicFramePr>
        <p:xfrm>
          <a:off x="585574" y="1414065"/>
          <a:ext cx="10864898" cy="4393856"/>
        </p:xfrm>
        <a:graphic>
          <a:graphicData uri="http://schemas.openxmlformats.org/drawingml/2006/table">
            <a:tbl>
              <a:tblPr firstRow="1" firstCol="1"/>
              <a:tblGrid>
                <a:gridCol w="2500932">
                  <a:extLst>
                    <a:ext uri="{9D8B030D-6E8A-4147-A177-3AD203B41FA5}">
                      <a16:colId xmlns:a16="http://schemas.microsoft.com/office/drawing/2014/main" val="3898280455"/>
                    </a:ext>
                  </a:extLst>
                </a:gridCol>
                <a:gridCol w="1271700">
                  <a:extLst>
                    <a:ext uri="{9D8B030D-6E8A-4147-A177-3AD203B41FA5}">
                      <a16:colId xmlns:a16="http://schemas.microsoft.com/office/drawing/2014/main" val="1903605037"/>
                    </a:ext>
                  </a:extLst>
                </a:gridCol>
                <a:gridCol w="1869801">
                  <a:extLst>
                    <a:ext uri="{9D8B030D-6E8A-4147-A177-3AD203B41FA5}">
                      <a16:colId xmlns:a16="http://schemas.microsoft.com/office/drawing/2014/main" val="239869091"/>
                    </a:ext>
                  </a:extLst>
                </a:gridCol>
                <a:gridCol w="1681051">
                  <a:extLst>
                    <a:ext uri="{9D8B030D-6E8A-4147-A177-3AD203B41FA5}">
                      <a16:colId xmlns:a16="http://schemas.microsoft.com/office/drawing/2014/main" val="2712428352"/>
                    </a:ext>
                  </a:extLst>
                </a:gridCol>
                <a:gridCol w="1865082">
                  <a:extLst>
                    <a:ext uri="{9D8B030D-6E8A-4147-A177-3AD203B41FA5}">
                      <a16:colId xmlns:a16="http://schemas.microsoft.com/office/drawing/2014/main" val="3043633548"/>
                    </a:ext>
                  </a:extLst>
                </a:gridCol>
                <a:gridCol w="1676332">
                  <a:extLst>
                    <a:ext uri="{9D8B030D-6E8A-4147-A177-3AD203B41FA5}">
                      <a16:colId xmlns:a16="http://schemas.microsoft.com/office/drawing/2014/main" val="1645784116"/>
                    </a:ext>
                  </a:extLst>
                </a:gridCol>
              </a:tblGrid>
              <a:tr h="452586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Poppins" panose="00000500000000000000" pitchFamily="2" charset="0"/>
                          <a:ea typeface="Times New Roman" panose="02020603050405020304" pitchFamily="18" charset="0"/>
                          <a:cs typeface="Poppins" panose="00000500000000000000" pitchFamily="2" charset="0"/>
                        </a:rPr>
                        <a:t> </a:t>
                      </a:r>
                    </a:p>
                  </a:txBody>
                  <a:tcPr marL="15505" marR="15505" marT="1550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effectLst/>
                          <a:latin typeface="Poppins" panose="00000500000000000000" pitchFamily="2" charset="0"/>
                          <a:ea typeface="Times New Roman" panose="02020603050405020304" pitchFamily="18" charset="0"/>
                          <a:cs typeface="Poppins" panose="00000500000000000000" pitchFamily="2" charset="0"/>
                        </a:rPr>
                        <a:t> 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Development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48852" marR="148852" marT="74426" marB="7442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Validation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48852" marR="148852" marT="74426" marB="7442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725276"/>
                  </a:ext>
                </a:extLst>
              </a:tr>
              <a:tr h="43299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Model Type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Complexity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Manual Time (min)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CoCo Time (min)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Manual Time (min)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CoCo Time (min)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276432"/>
                  </a:ext>
                </a:extLst>
              </a:tr>
              <a:tr h="3189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Source</a:t>
                      </a:r>
                      <a:endParaRPr lang="en-US" sz="14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96B24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Simple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5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1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5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1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411746"/>
                  </a:ext>
                </a:extLst>
              </a:tr>
              <a:tr h="3189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Staging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196B24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Simple</a:t>
                      </a:r>
                      <a:endParaRPr lang="en-US" sz="14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15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2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10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2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7846"/>
                  </a:ext>
                </a:extLst>
              </a:tr>
              <a:tr h="3189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Intermediate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96B24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Simple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30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5</a:t>
                      </a:r>
                      <a:endParaRPr lang="en-US" sz="14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15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3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883883"/>
                  </a:ext>
                </a:extLst>
              </a:tr>
              <a:tr h="3189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Intermediate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FFC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Moderate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60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10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20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5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586850"/>
                  </a:ext>
                </a:extLst>
              </a:tr>
              <a:tr h="3189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Intermediate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Complex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180</a:t>
                      </a:r>
                      <a:endParaRPr lang="en-US" sz="14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30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45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10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984721"/>
                  </a:ext>
                </a:extLst>
              </a:tr>
              <a:tr h="3189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Mart (Dimension)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FFC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Moderate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90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15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30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8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975332"/>
                  </a:ext>
                </a:extLst>
              </a:tr>
              <a:tr h="3189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Mart (Fact)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Complex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180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30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45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10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329202"/>
                  </a:ext>
                </a:extLst>
              </a:tr>
              <a:tr h="3189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Publish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96B24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Simple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20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3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10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3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961869"/>
                  </a:ext>
                </a:extLst>
              </a:tr>
              <a:tr h="6378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Full Pipeline (5–6 models)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Complex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360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45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90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20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985338"/>
                  </a:ext>
                </a:extLst>
              </a:tr>
              <a:tr h="3189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Test &amp; YAML Docs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FFC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Moderate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40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5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15</a:t>
                      </a:r>
                      <a:endParaRPr lang="en-US" sz="14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Aptos Narrow" panose="020B0004020202020204" pitchFamily="34" charset="0"/>
                          <a:cs typeface="Poppins" panose="00000500000000000000" pitchFamily="2" charset="0"/>
                        </a:rPr>
                        <a:t>3</a:t>
                      </a:r>
                      <a:endParaRPr lang="en-US" sz="14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15505" marR="15505" marT="1550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026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8380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DC2C9-35F7-67FF-3823-1826F0593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B316F8-1F88-E92E-1E1A-20E0DEFE4F66}"/>
              </a:ext>
            </a:extLst>
          </p:cNvPr>
          <p:cNvSpPr txBox="1"/>
          <p:nvPr/>
        </p:nvSpPr>
        <p:spPr>
          <a:xfrm>
            <a:off x="530053" y="624309"/>
            <a:ext cx="7109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How can this help AA team in development?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8A2D45-793B-9E8B-87B5-502950898464}"/>
              </a:ext>
            </a:extLst>
          </p:cNvPr>
          <p:cNvSpPr txBox="1"/>
          <p:nvPr/>
        </p:nvSpPr>
        <p:spPr>
          <a:xfrm>
            <a:off x="530053" y="1187450"/>
            <a:ext cx="6795450" cy="2546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Faster Development of models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Standardized Data Models for Analytics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Faster Turnaround for Dashboard Data Requests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Applying DRY(Do not repeat yourself) principle is easier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Natural Language Data Discovery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End-to-End DBT pipeline automation</a:t>
            </a:r>
          </a:p>
        </p:txBody>
      </p:sp>
    </p:spTree>
    <p:extLst>
      <p:ext uri="{BB962C8B-B14F-4D97-AF65-F5344CB8AC3E}">
        <p14:creationId xmlns:p14="http://schemas.microsoft.com/office/powerpoint/2010/main" val="1021231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14196B1D1678409E49320DEC3A48A9" ma:contentTypeVersion="19" ma:contentTypeDescription="Create a new document." ma:contentTypeScope="" ma:versionID="f2c42dc2322ff2ecd93a5835b8f896c0">
  <xsd:schema xmlns:xsd="http://www.w3.org/2001/XMLSchema" xmlns:xs="http://www.w3.org/2001/XMLSchema" xmlns:p="http://schemas.microsoft.com/office/2006/metadata/properties" xmlns:ns1="http://schemas.microsoft.com/sharepoint/v3" xmlns:ns3="1ff5d808-345b-4a6d-874b-605a8a1f80b8" xmlns:ns4="0ec703ea-0126-4fea-8645-df16d5edec8f" targetNamespace="http://schemas.microsoft.com/office/2006/metadata/properties" ma:root="true" ma:fieldsID="53aff4b7968f37b4f947e63347868775" ns1:_="" ns3:_="" ns4:_="">
    <xsd:import namespace="http://schemas.microsoft.com/sharepoint/v3"/>
    <xsd:import namespace="1ff5d808-345b-4a6d-874b-605a8a1f80b8"/>
    <xsd:import namespace="0ec703ea-0126-4fea-8645-df16d5edec8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AutoKeyPoints" minOccurs="0"/>
                <xsd:element ref="ns4:MediaServiceKeyPoints" minOccurs="0"/>
                <xsd:element ref="ns1:_ip_UnifiedCompliancePolicyProperties" minOccurs="0"/>
                <xsd:element ref="ns1:_ip_UnifiedCompliancePolicyUIAction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5d808-345b-4a6d-874b-605a8a1f80b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c703ea-0126-4fea-8645-df16d5edec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0ec703ea-0126-4fea-8645-df16d5edec8f" xsi:nil="true"/>
  </documentManagement>
</p:properties>
</file>

<file path=customXml/itemProps1.xml><?xml version="1.0" encoding="utf-8"?>
<ds:datastoreItem xmlns:ds="http://schemas.openxmlformats.org/officeDocument/2006/customXml" ds:itemID="{A483DA52-1439-4B7E-AFA8-6E21BB90E6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ff5d808-345b-4a6d-874b-605a8a1f80b8"/>
    <ds:schemaRef ds:uri="0ec703ea-0126-4fea-8645-df16d5edec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7A53937-886F-4AF5-9E6C-935F169291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0AA294-1414-4C77-9E07-FFFC98C38C86}">
  <ds:schemaRefs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purl.org/dc/terms/"/>
    <ds:schemaRef ds:uri="0ec703ea-0126-4fea-8645-df16d5edec8f"/>
    <ds:schemaRef ds:uri="1ff5d808-345b-4a6d-874b-605a8a1f80b8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1313</Words>
  <Application>Microsoft Office PowerPoint</Application>
  <PresentationFormat>Widescreen</PresentationFormat>
  <Paragraphs>369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Prakaash Mahalingam</dc:creator>
  <cp:lastModifiedBy>Satyam Chaurasiya</cp:lastModifiedBy>
  <cp:revision>11</cp:revision>
  <dcterms:created xsi:type="dcterms:W3CDTF">2026-03-26T04:28:37Z</dcterms:created>
  <dcterms:modified xsi:type="dcterms:W3CDTF">2026-04-15T16:21:49Z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0x0101001814196B1D1678409E49320DEC3A48A9</vt:lpwstr>
  </property>
</Properties>
</file>